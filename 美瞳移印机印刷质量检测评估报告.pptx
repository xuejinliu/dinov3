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4114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美瞳铸模移印机印刷质量检测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DD7EE"/>
                </a:solidFill>
              </a:rPr>
              <a:t>跨机台 · 跨相机  模板复用可行性评估报告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DD7EE"/>
                </a:solidFill>
              </a:rPr>
              <a:t>检测目标：色差 / 缺墨 / 漏印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版本：V1.0    日期：2026-04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989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编制：品质工程部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3444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344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项目背景与目标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01368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013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8013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现状与问题定义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68296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36829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6829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检测对象与评估指标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35224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93522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93522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技术方案总览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02152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50215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5021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可行性分析 — 缺墨/漏印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69080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0690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0690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可行性分析 — 色差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234440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7" y="123444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2344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风险清单与等级评估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801368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7" y="18013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18013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验证方案设计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368296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7" y="236829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36829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阶段性结果（样本预览）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935224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7" y="293522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93522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落地策略与时间计划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502152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7" y="350215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5021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资源与投入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069080"/>
            <a:ext cx="5029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7" y="40690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0690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结论与决策建议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Project Background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5B6"/>
                </a:solidFill>
              </a:rPr>
              <a:t>业务背景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04040"/>
                </a:solidFill>
              </a:rPr>
              <a:t>• 美瞳产品（彩色隐形眼镜）图案通过铸模移印工艺印刷</a:t>
            </a:r>
          </a:p>
          <a:p>
            <a:r>
              <a:rPr sz="1500" b="0">
                <a:solidFill>
                  <a:srgbClr val="404040"/>
                </a:solidFill>
              </a:rPr>
              <a:t>• 现有检测方案基于单台建模机（固定相机、固定光源）</a:t>
            </a:r>
          </a:p>
          <a:p>
            <a:r>
              <a:rPr sz="1500" b="0">
                <a:solidFill>
                  <a:srgbClr val="404040"/>
                </a:solidFill>
              </a:rPr>
              <a:t>• 多台移印机产能扩充，需要将同一模板检测方案推广至其他机台</a:t>
            </a:r>
          </a:p>
          <a:p>
            <a:r>
              <a:rPr sz="1500" b="0">
                <a:solidFill>
                  <a:srgbClr val="404040"/>
                </a:solidFill>
              </a:rPr>
              <a:t>• 目标相机与建模相机同型号，但属于独立个体</a:t>
            </a:r>
          </a:p>
          <a:p>
            <a:r>
              <a:rPr sz="1500" b="0">
                <a:solidFill>
                  <a:srgbClr val="404040"/>
                </a:solidFill>
              </a:rPr>
              <a:t>• 需评估在不更换模板的前提下，直接复用方案的可行性与风险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5778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5B6"/>
                </a:solidFill>
              </a:rPr>
              <a:t>评估目标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0AD47"/>
                </a:solidFill>
              </a:rPr>
              <a:t>✔ 明确跨机台/跨相机复用方案的可行性边界</a:t>
            </a:r>
          </a:p>
          <a:p>
            <a:r>
              <a:rPr sz="1500" b="1">
                <a:solidFill>
                  <a:srgbClr val="404040"/>
                </a:solidFill>
              </a:rPr>
              <a:t>✔ 识别色差和缺墨检测在新环境下的主要风险</a:t>
            </a:r>
          </a:p>
          <a:p>
            <a:r>
              <a:rPr sz="1500" b="1">
                <a:solidFill>
                  <a:srgbClr val="404040"/>
                </a:solidFill>
              </a:rPr>
              <a:t>✔ 提出控制措施与最低准入条件</a:t>
            </a:r>
          </a:p>
          <a:p>
            <a:r>
              <a:rPr sz="1500" b="1">
                <a:solidFill>
                  <a:srgbClr val="404040"/>
                </a:solidFill>
              </a:rPr>
              <a:t>✔ 设计快速验证方案，给出上线决策依据</a:t>
            </a:r>
          </a:p>
          <a:p>
            <a:r>
              <a:rPr sz="1500" b="1">
                <a:solidFill>
                  <a:srgbClr val="404040"/>
                </a:solidFill>
              </a:rPr>
              <a:t>✔ 规划落地路径：试点 → 扩线 → 量产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现状与问题定义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Current State &amp; Problem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212080" cy="5120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521208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618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建模条件（参考基准）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521208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55648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相机：固定型号 A，独立个体 #001</a:t>
            </a:r>
          </a:p>
          <a:p>
            <a:r>
              <a:rPr sz="1400" b="0">
                <a:solidFill>
                  <a:srgbClr val="404040"/>
                </a:solidFill>
              </a:rPr>
              <a:t>光源：环形白光，色温固定 5500 K</a:t>
            </a:r>
          </a:p>
          <a:p>
            <a:r>
              <a:rPr sz="1400" b="0">
                <a:solidFill>
                  <a:srgbClr val="404040"/>
                </a:solidFill>
              </a:rPr>
              <a:t>曝光/增益：出厂锁定参数</a:t>
            </a:r>
          </a:p>
          <a:p>
            <a:r>
              <a:rPr sz="1400" b="0">
                <a:solidFill>
                  <a:srgbClr val="404040"/>
                </a:solidFill>
              </a:rPr>
              <a:t>工作距离：120 mm（固定治具）</a:t>
            </a:r>
          </a:p>
          <a:p>
            <a:r>
              <a:rPr sz="1400" b="0">
                <a:solidFill>
                  <a:srgbClr val="404040"/>
                </a:solidFill>
              </a:rPr>
              <a:t>移印机：建模机台 M-001</a:t>
            </a:r>
          </a:p>
          <a:p>
            <a:r>
              <a:rPr sz="1400" b="0">
                <a:solidFill>
                  <a:srgbClr val="404040"/>
                </a:solidFill>
              </a:rPr>
              <a:t>油墨批次：建模用批次 Ink-REF</a:t>
            </a:r>
          </a:p>
          <a:p>
            <a:r>
              <a:rPr sz="1400" b="0">
                <a:solidFill>
                  <a:srgbClr val="404040"/>
                </a:solidFill>
              </a:rPr>
              <a:t>合格样本：500 件（人工审核）</a:t>
            </a:r>
          </a:p>
          <a:p>
            <a:r>
              <a:rPr sz="1400" b="0">
                <a:solidFill>
                  <a:srgbClr val="404040"/>
                </a:solidFill>
              </a:rPr>
              <a:t>模板图像：单一标准模板（1张）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394960" cy="5120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539496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实际检测条件（目标场景）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5394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55648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相机：同型号 A，独立个体 #002~#00N</a:t>
            </a:r>
          </a:p>
          <a:p>
            <a:r>
              <a:rPr sz="1400" b="0">
                <a:solidFill>
                  <a:srgbClr val="404040"/>
                </a:solidFill>
              </a:rPr>
              <a:t>光源：各线体自有光源（可能存在差异）</a:t>
            </a:r>
          </a:p>
          <a:p>
            <a:r>
              <a:rPr sz="1400" b="0">
                <a:solidFill>
                  <a:srgbClr val="404040"/>
                </a:solidFill>
              </a:rPr>
              <a:t>曝光/增益：需重新确认是否锁定</a:t>
            </a:r>
          </a:p>
          <a:p>
            <a:r>
              <a:rPr sz="1400" b="0">
                <a:solidFill>
                  <a:srgbClr val="404040"/>
                </a:solidFill>
              </a:rPr>
              <a:t>工作距离：各机台治具独立安装（有偏差风险）</a:t>
            </a:r>
          </a:p>
          <a:p>
            <a:r>
              <a:rPr sz="1400" b="0">
                <a:solidFill>
                  <a:srgbClr val="404040"/>
                </a:solidFill>
              </a:rPr>
              <a:t>移印机：其他机台 M-002、M-003…</a:t>
            </a:r>
          </a:p>
          <a:p>
            <a:r>
              <a:rPr sz="1400" b="0">
                <a:solidFill>
                  <a:srgbClr val="404040"/>
                </a:solidFill>
              </a:rPr>
              <a:t>油墨批次：生产实际批次（批次间差异）</a:t>
            </a:r>
          </a:p>
          <a:p>
            <a:r>
              <a:rPr sz="1400" b="0">
                <a:solidFill>
                  <a:srgbClr val="404040"/>
                </a:solidFill>
              </a:rPr>
              <a:t>合格样本：尚未系统采集</a:t>
            </a:r>
          </a:p>
          <a:p>
            <a:r>
              <a:rPr sz="1400" b="0">
                <a:solidFill>
                  <a:srgbClr val="404040"/>
                </a:solidFill>
              </a:rPr>
              <a:t>模板图像：复用建模模板（不更换）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</a:rPr>
              <a:t>⚠ 核心差异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检测对象与评估指标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Inspection Items &amp;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14300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527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检测对象定义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2743200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55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色差 (ΔE)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176272"/>
            <a:ext cx="25237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印刷色彩偏离标准模板超出可接受范围
（建议阈值 ΔE &lt; 3.0，Lab 空间计算）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737360"/>
            <a:ext cx="2743200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755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缺墨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14884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176272"/>
            <a:ext cx="25237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局部油墨缺失，呈现白斑或透明区域
面积 &gt; 0.1 mm² 判为不良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37360"/>
            <a:ext cx="2743200" cy="1554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755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漏印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4884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176272"/>
            <a:ext cx="25237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整色层未转印，图案局部完全缺失
（严重等级，零容忍）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737360"/>
            <a:ext cx="2743200" cy="1554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55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脏污/划痕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14884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2176272"/>
            <a:ext cx="25237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异物附着或表面划伤
影响外观或佩戴安全性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29000"/>
            <a:ext cx="114300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447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验收 KPI（试点阶段目标）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3657600" cy="402336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904487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3886200"/>
            <a:ext cx="2011680" cy="402336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3904487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目标值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886200"/>
            <a:ext cx="5577840" cy="402336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904487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说明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288536"/>
            <a:ext cx="3657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30682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漏检率（Miss Rate）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60" y="4288536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30682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&lt; 0.5 %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4288536"/>
            <a:ext cx="5577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4306824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不良品未被检出的比例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90872"/>
            <a:ext cx="3657600" cy="402336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70916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误检率（False Alarm）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0" y="4690872"/>
            <a:ext cx="2011680" cy="402336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9080" y="470916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&lt; 5 %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4690872"/>
            <a:ext cx="5577840" cy="402336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470916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合格品被误判为不良的比例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093208"/>
            <a:ext cx="3657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11149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ΔE 准确率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5093208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69080" y="511149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&gt; 95 %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5093208"/>
            <a:ext cx="5577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511149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色差判定与人工复核一致率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495544"/>
            <a:ext cx="3657600" cy="402336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51383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单件检测节拍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23360" y="5495544"/>
            <a:ext cx="2011680" cy="402336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69080" y="551383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&lt; 3 s / 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495544"/>
            <a:ext cx="5577840" cy="402336"/>
          </a:xfrm>
          <a:prstGeom prst="rect">
            <a:avLst/>
          </a:prstGeom>
          <a:solidFill>
            <a:srgbClr val="BDD7E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80760" y="551383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满足产线节拍要求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897880"/>
            <a:ext cx="3657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91616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设备上线周期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23360" y="5897880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69080" y="591616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&lt; 5 工作日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5897880"/>
            <a:ext cx="5577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80760" y="591616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新机台接入所需校准时间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技术方案总览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Technical Solution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" y="1417320"/>
            <a:ext cx="20116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" y="14356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 成像
标准化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" y="192024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" y="1984248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固定光源
锁定相机参数
色卡校准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2596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6916" y="1417320"/>
            <a:ext cx="20116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2636" y="14356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 颜色
校准映射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56916" y="192024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48356" y="1984248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Lab空间转换
设备间ΔE校正
映射矩阵存档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4316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8636" y="1417320"/>
            <a:ext cx="20116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4356" y="14356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 图像
对齐定位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8636" y="192024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0076" y="1984248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特征点配准
仿射变换校正
ROI提取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6036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0356" y="1417320"/>
            <a:ext cx="20116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6076" y="14356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 双层
瑕疵检测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0356" y="192024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1796" y="1984248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形态检测→缺墨
色差计算→ΔE
置信度评分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7756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52076" y="1417320"/>
            <a:ext cx="20116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7796" y="14356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 判定
与复检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2076" y="192024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3516" y="1984248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自动通过/拒绝
灰区人工复判
SPC实时监控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77639"/>
            <a:ext cx="1143000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9959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97D"/>
                </a:solidFill>
              </a:rPr>
              <a:t>关键原则：颜色校准和设备标定先行；检测参数不跨机台直接复制，必须在新设备上重新验证阈值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26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📌 每台新相机上线前需完成颜色校准卡拍摄（≥24 色格，ΔE &lt; 2.0 通过）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566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📌 建议采用双通道检测架构：形态通道（对相机变化不敏感）+ 颜色通道（严格校准后启用）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8698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📌 灰区复检比例目标 &lt; 3 %，超标触发光源/参数重新调整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可行性分析 — 缺墨 / 漏印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Feasibility: Ink Defect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6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1430000" cy="548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✔  结论：可行性较高 — 形态特征稳定，对相机个体差异和光照波动相对不敏感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53035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47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检测原理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1. 对齐配准：将采集图像与模板图像进行仿射配准</a:t>
            </a:r>
          </a:p>
          <a:p>
            <a:r>
              <a:rPr sz="1400" b="0">
                <a:solidFill>
                  <a:srgbClr val="404040"/>
                </a:solidFill>
              </a:rPr>
              <a:t>2. 差值图计算：逐像素亮度差异 → 形态阈值分割</a:t>
            </a:r>
          </a:p>
          <a:p>
            <a:r>
              <a:rPr sz="1400" b="0">
                <a:solidFill>
                  <a:srgbClr val="404040"/>
                </a:solidFill>
              </a:rPr>
              <a:t>3. 连通域分析：判断缺损区域面积是否超标</a:t>
            </a:r>
          </a:p>
          <a:p>
            <a:r>
              <a:rPr sz="1400" b="0">
                <a:solidFill>
                  <a:srgbClr val="404040"/>
                </a:solidFill>
              </a:rPr>
              <a:t>4. 分类输出：PASS / FAIL，记录缺陷坐标与面积</a:t>
            </a:r>
          </a:p>
          <a:p>
            <a:r>
              <a:rPr sz="1400" b="0">
                <a:solidFill>
                  <a:srgbClr val="404040"/>
                </a:solidFill>
              </a:rPr>
              <a:t/>
            </a:r>
          </a:p>
          <a:p>
            <a:r>
              <a:rPr sz="1400" b="0">
                <a:solidFill>
                  <a:srgbClr val="404040"/>
                </a:solidFill>
              </a:rPr>
              <a:t>关键优势：</a:t>
            </a:r>
          </a:p>
          <a:p>
            <a:r>
              <a:rPr sz="1400" b="0">
                <a:solidFill>
                  <a:srgbClr val="404040"/>
                </a:solidFill>
              </a:rPr>
              <a:t>• 亮度/形态特征受相机色彩响应差异影响小</a:t>
            </a:r>
          </a:p>
          <a:p>
            <a:r>
              <a:rPr sz="1400" b="0">
                <a:solidFill>
                  <a:srgbClr val="404040"/>
                </a:solidFill>
              </a:rPr>
              <a:t>• 缺墨区域与背景对比度高，信噪比好</a:t>
            </a:r>
          </a:p>
          <a:p>
            <a:r>
              <a:rPr sz="1400" b="0">
                <a:solidFill>
                  <a:srgbClr val="404040"/>
                </a:solidFill>
              </a:rPr>
              <a:t>• 配准算法可抵消轻微位移偏差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920240"/>
            <a:ext cx="57607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9476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关键影响因子 &amp; 控制措施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423160"/>
            <a:ext cx="2011680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441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光照均匀性
风险：中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423160"/>
            <a:ext cx="3749039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45973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使用积分球或漫射光源，每班检查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971800"/>
            <a:ext cx="2011680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9900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相机对焦精度
风险：中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971800"/>
            <a:ext cx="3749039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300837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固定工作距离，定期检查焦点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520440"/>
            <a:ext cx="2011680" cy="47548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3538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印刷位置偏差
风险：低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520440"/>
            <a:ext cx="3749039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355701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配准算法自动补偿 ±1 mm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069080"/>
            <a:ext cx="2011680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40873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油墨透明度变化
风险：中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069080"/>
            <a:ext cx="3749039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410565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纳入批次管控，维持粘度范围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4617720"/>
            <a:ext cx="201168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63600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检测阈值迁移
风险：高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617720"/>
            <a:ext cx="3749039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65429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每台新设备采集50件样本重新标定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可行性分析 — 色差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Feasibility: Color Difference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143000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⚠  结论：有条件可行 — 必须完成颜色校准、光源锁定、阈值重标定，方可启用色差通道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53035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47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</a:rPr>
              <a:t>ΔE 色差检测方案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</a:rPr>
              <a:t>1. 颜色空间转换：RGB → CIE Lab（感知均匀）</a:t>
            </a:r>
          </a:p>
          <a:p>
            <a:r>
              <a:rPr sz="1300" b="0">
                <a:solidFill>
                  <a:srgbClr val="404040"/>
                </a:solidFill>
              </a:rPr>
              <a:t>2. 像素级 ΔE 计算：ΔE₀₀ 公式（CIEDE2000）</a:t>
            </a:r>
          </a:p>
          <a:p>
            <a:r>
              <a:rPr sz="1300" b="0">
                <a:solidFill>
                  <a:srgbClr val="404040"/>
                </a:solidFill>
              </a:rPr>
              <a:t>3. 区域聚合：超过阈值像素簇判为色差缺陷</a:t>
            </a:r>
          </a:p>
          <a:p>
            <a:r>
              <a:rPr sz="1300" b="0">
                <a:solidFill>
                  <a:srgbClr val="404040"/>
                </a:solidFill>
              </a:rPr>
              <a:t>4. 可接受阈值：ΔE &lt; 3.0（建议按客户规格调整）</a:t>
            </a:r>
          </a:p>
          <a:p>
            <a:r>
              <a:rPr sz="1300" b="0">
                <a:solidFill>
                  <a:srgbClr val="404040"/>
                </a:solidFill>
              </a:rPr>
              <a:t/>
            </a:r>
          </a:p>
          <a:p>
            <a:r>
              <a:rPr sz="1300" b="0">
                <a:solidFill>
                  <a:srgbClr val="404040"/>
                </a:solidFill>
              </a:rPr>
              <a:t>跨相机影响分析：</a:t>
            </a:r>
          </a:p>
          <a:p>
            <a:r>
              <a:rPr sz="1300" b="0">
                <a:solidFill>
                  <a:srgbClr val="404040"/>
                </a:solidFill>
              </a:rPr>
              <a:t>• 同型号相机色彩响应差异典型值 ΔE ≈ 1~3</a:t>
            </a:r>
          </a:p>
          <a:p>
            <a:r>
              <a:rPr sz="1300" b="0">
                <a:solidFill>
                  <a:srgbClr val="404040"/>
                </a:solidFill>
              </a:rPr>
              <a:t>• 若不校准，可能触发大量误报（假阳性）</a:t>
            </a:r>
          </a:p>
          <a:p>
            <a:r>
              <a:rPr sz="1300" b="0">
                <a:solidFill>
                  <a:srgbClr val="404040"/>
                </a:solidFill>
              </a:rPr>
              <a:t>• 校准后残差 ΔE &lt; 0.5，可满足检测需求</a:t>
            </a:r>
          </a:p>
          <a:p>
            <a:r>
              <a:rPr sz="1300" b="0">
                <a:solidFill>
                  <a:srgbClr val="404040"/>
                </a:solidFill>
              </a:rPr>
              <a:t/>
            </a:r>
          </a:p>
          <a:p>
            <a:r>
              <a:rPr sz="1300" b="0">
                <a:solidFill>
                  <a:srgbClr val="404040"/>
                </a:solidFill>
              </a:rPr>
              <a:t>前置条件（缺一不可）：</a:t>
            </a:r>
          </a:p>
          <a:p>
            <a:r>
              <a:rPr sz="1300" b="0">
                <a:solidFill>
                  <a:srgbClr val="404040"/>
                </a:solidFill>
              </a:rPr>
              <a:t>  ✔ 光源色温锁定（同色温 ± 50 K）</a:t>
            </a:r>
          </a:p>
          <a:p>
            <a:r>
              <a:rPr sz="1300" b="0">
                <a:solidFill>
                  <a:srgbClr val="404040"/>
                </a:solidFill>
              </a:rPr>
              <a:t>  ✔ 相机白平衡 One-Push 后锁定</a:t>
            </a:r>
          </a:p>
          <a:p>
            <a:r>
              <a:rPr sz="1300" b="0">
                <a:solidFill>
                  <a:srgbClr val="404040"/>
                </a:solidFill>
              </a:rPr>
              <a:t>  ✔ 色卡校准（X-Rite 24 色格，≥ 3 次平均）</a:t>
            </a:r>
          </a:p>
          <a:p>
            <a:r>
              <a:rPr sz="1300" b="0">
                <a:solidFill>
                  <a:srgbClr val="404040"/>
                </a:solidFill>
              </a:rPr>
              <a:t>  ✔ 阈值在新设备上重新验证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920240"/>
            <a:ext cx="57607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9476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</a:rPr>
              <a:t>主要风险与缓解措施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423160"/>
            <a:ext cx="182880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450591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相机个体色差（高）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42316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2468879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建立设备间颜色映射矩阵，每台存档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953512"/>
            <a:ext cx="182880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980944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光源老化漂移（高）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953512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99923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每班首件色卡验证，SPC跟踪色温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483864"/>
            <a:ext cx="182880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3511296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油墨批次色差（中）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483864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352958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新批次来料抽检色卡，偏差超标换批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014215"/>
            <a:ext cx="182880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404164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白平衡未锁定（高）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4014215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4059935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作业标准强制要求，上线前 Check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4544568"/>
            <a:ext cx="182880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57200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阈值迁移（高）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454456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459028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新设备≥30件合格+不良样本重标定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5074920"/>
            <a:ext cx="182880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5102352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图案色彩复杂（中）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507492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5120640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分区域设定不同ΔE阈值，精细化管控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风险清单与等级评估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Risk Register &amp; Risk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8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6576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1" y="1261872"/>
            <a:ext cx="3108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234440"/>
            <a:ext cx="347472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261872"/>
            <a:ext cx="3419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风险描述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234440"/>
            <a:ext cx="118872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2" y="126187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发生概率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234440"/>
            <a:ext cx="118872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126187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影响程度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234440"/>
            <a:ext cx="118872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26187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风险等级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1234440"/>
            <a:ext cx="429768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1261872"/>
            <a:ext cx="42428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控制措施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645920"/>
            <a:ext cx="365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1" y="1673352"/>
            <a:ext cx="3108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R1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1645920"/>
            <a:ext cx="3474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1673352"/>
            <a:ext cx="3419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相机个体色彩响应差异导致误报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1645920"/>
            <a:ext cx="1188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2232" y="167335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1645920"/>
            <a:ext cx="1188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2" y="167335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645920"/>
            <a:ext cx="1188720" cy="411480"/>
          </a:xfrm>
          <a:prstGeom prst="rect">
            <a:avLst/>
          </a:prstGeom>
          <a:solidFill>
            <a:srgbClr val="ED7D31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167335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1645920"/>
            <a:ext cx="4297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08392" y="1673352"/>
            <a:ext cx="42428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颜色校准 + 映射矩阵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057400"/>
            <a:ext cx="36576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1" y="2084831"/>
            <a:ext cx="3108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R2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2057400"/>
            <a:ext cx="3474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2084831"/>
            <a:ext cx="3419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光源色温/照度波动影响色差判定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2057400"/>
            <a:ext cx="1188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42232" y="2084831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2057400"/>
            <a:ext cx="1188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30952" y="2084831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1188720" cy="411480"/>
          </a:xfrm>
          <a:prstGeom prst="rect">
            <a:avLst/>
          </a:prstGeom>
          <a:solidFill>
            <a:srgbClr val="ED7D31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2084831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2057400"/>
            <a:ext cx="429768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08392" y="2084831"/>
            <a:ext cx="42428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SPC监控 + 每班色卡验证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468880"/>
            <a:ext cx="365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751" y="2496312"/>
            <a:ext cx="3108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R3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2468880"/>
            <a:ext cx="3474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" y="2496312"/>
            <a:ext cx="3419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不同移印机工艺参数差异改变印刷分布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2468880"/>
            <a:ext cx="1188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42232" y="249631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2468880"/>
            <a:ext cx="1188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30952" y="249631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2468880"/>
            <a:ext cx="1188720" cy="411480"/>
          </a:xfrm>
          <a:prstGeom prst="rect">
            <a:avLst/>
          </a:prstGeom>
          <a:solidFill>
            <a:srgbClr val="FFC000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9672" y="249631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0" y="2468880"/>
            <a:ext cx="4297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08392" y="2496312"/>
            <a:ext cx="42428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工艺窗口管控 + 再标定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880360"/>
            <a:ext cx="36576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1" y="2907792"/>
            <a:ext cx="3108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R4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2880360"/>
            <a:ext cx="3474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" y="2907792"/>
            <a:ext cx="3419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单一模板边界样本覆盖不足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2880360"/>
            <a:ext cx="1188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290779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03520" y="2880360"/>
            <a:ext cx="1188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30952" y="290779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中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2880360"/>
            <a:ext cx="1188720" cy="411480"/>
          </a:xfrm>
          <a:prstGeom prst="rect">
            <a:avLst/>
          </a:prstGeom>
          <a:solidFill>
            <a:srgbClr val="FFC000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19672" y="290779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中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80960" y="2880360"/>
            <a:ext cx="429768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08392" y="2907792"/>
            <a:ext cx="42428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扩充边界样本库（各机台50件）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291840"/>
            <a:ext cx="365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1751" y="3319272"/>
            <a:ext cx="3108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R5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3291840"/>
            <a:ext cx="3474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" y="3319272"/>
            <a:ext cx="3419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阈值在新机台/相机下失效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0" y="3291840"/>
            <a:ext cx="1188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42232" y="331927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03520" y="3291840"/>
            <a:ext cx="1188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30952" y="331927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92240" y="3291840"/>
            <a:ext cx="1188720" cy="411480"/>
          </a:xfrm>
          <a:prstGeom prst="rect">
            <a:avLst/>
          </a:prstGeom>
          <a:solidFill>
            <a:srgbClr val="ED7D31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19672" y="331927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80960" y="3291840"/>
            <a:ext cx="4297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08392" y="3319272"/>
            <a:ext cx="42428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新设备上线必须重标阈值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3703320"/>
            <a:ext cx="36576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1751" y="3730752"/>
            <a:ext cx="3108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R6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" y="3703320"/>
            <a:ext cx="3474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7512" y="3730752"/>
            <a:ext cx="3419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合格/不良标注标准不一致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0" y="3703320"/>
            <a:ext cx="1188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42232" y="373075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中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303520" y="3703320"/>
            <a:ext cx="1188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30952" y="373075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中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2240" y="3703320"/>
            <a:ext cx="1188720" cy="411480"/>
          </a:xfrm>
          <a:prstGeom prst="rect">
            <a:avLst/>
          </a:prstGeom>
          <a:solidFill>
            <a:srgbClr val="FFC000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19672" y="373075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中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80960" y="3703320"/>
            <a:ext cx="429768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08392" y="3730752"/>
            <a:ext cx="42428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制定标注规范 + 标注人员培训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4114800"/>
            <a:ext cx="365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1751" y="4142232"/>
            <a:ext cx="3108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R7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" y="4114800"/>
            <a:ext cx="3474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7512" y="4142232"/>
            <a:ext cx="3419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油墨批次色差超出模型覆盖范围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14800" y="4114800"/>
            <a:ext cx="1188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42232" y="414223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低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303520" y="4114800"/>
            <a:ext cx="11887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330952" y="414223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中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114800"/>
            <a:ext cx="1188720" cy="411480"/>
          </a:xfrm>
          <a:prstGeom prst="rect">
            <a:avLst/>
          </a:prstGeom>
          <a:solidFill>
            <a:srgbClr val="70AD47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19672" y="414223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低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80960" y="4114800"/>
            <a:ext cx="4297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08392" y="4142232"/>
            <a:ext cx="42428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来料色差检验 + 批次偏差档案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4526280"/>
            <a:ext cx="36576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01751" y="4553712"/>
            <a:ext cx="3108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R8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0080" y="4526280"/>
            <a:ext cx="3474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7512" y="4553712"/>
            <a:ext cx="3419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工作距离/焦距安装偏差影响配准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14800" y="4526280"/>
            <a:ext cx="1188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42232" y="455371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低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303520" y="4526280"/>
            <a:ext cx="118872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330952" y="455371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低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92240" y="4526280"/>
            <a:ext cx="1188720" cy="411480"/>
          </a:xfrm>
          <a:prstGeom prst="rect">
            <a:avLst/>
          </a:prstGeom>
          <a:solidFill>
            <a:srgbClr val="70AD47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19672" y="4553712"/>
            <a:ext cx="11338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低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680960" y="4526280"/>
            <a:ext cx="4297680" cy="411480"/>
          </a:xfrm>
          <a:prstGeom prst="rect">
            <a:avLst/>
          </a:prstGeom>
          <a:solidFill>
            <a:srgbClr val="F2F2F2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708392" y="4553712"/>
            <a:ext cx="42428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安装治具 + 定期焦距确认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 验证方案设计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Validation Plan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5B6"/>
                </a:solidFill>
              </a:rPr>
              <a:t>样本设计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合格品（每台机）：</a:t>
            </a:r>
          </a:p>
          <a:p>
            <a:r>
              <a:rPr sz="1400" b="0">
                <a:solidFill>
                  <a:srgbClr val="404040"/>
                </a:solidFill>
              </a:rPr>
              <a:t>  • 建模机 M-001：200 件（对照组）</a:t>
            </a:r>
          </a:p>
          <a:p>
            <a:r>
              <a:rPr sz="1400" b="0">
                <a:solidFill>
                  <a:srgbClr val="404040"/>
                </a:solidFill>
              </a:rPr>
              <a:t>  • 目标机 M-002：200 件</a:t>
            </a:r>
          </a:p>
          <a:p>
            <a:r>
              <a:rPr sz="1400" b="0">
                <a:solidFill>
                  <a:srgbClr val="404040"/>
                </a:solidFill>
              </a:rPr>
              <a:t>  • 目标机 M-003：200 件</a:t>
            </a:r>
          </a:p>
          <a:p>
            <a:r>
              <a:rPr sz="1400" b="0">
                <a:solidFill>
                  <a:srgbClr val="404040"/>
                </a:solidFill>
              </a:rPr>
              <a:t/>
            </a:r>
          </a:p>
          <a:p>
            <a:r>
              <a:rPr sz="1400" b="0">
                <a:solidFill>
                  <a:srgbClr val="404040"/>
                </a:solidFill>
              </a:rPr>
              <a:t>不良品（含各类型）：</a:t>
            </a:r>
          </a:p>
          <a:p>
            <a:r>
              <a:rPr sz="1400" b="0">
                <a:solidFill>
                  <a:srgbClr val="404040"/>
                </a:solidFill>
              </a:rPr>
              <a:t>  • 缺墨（各级别）：每机台 ≥ 30 件</a:t>
            </a:r>
          </a:p>
          <a:p>
            <a:r>
              <a:rPr sz="1400" b="0">
                <a:solidFill>
                  <a:srgbClr val="404040"/>
                </a:solidFill>
              </a:rPr>
              <a:t>  • 色差（轻/中/重）：每机台 ≥ 30 件</a:t>
            </a:r>
          </a:p>
          <a:p>
            <a:r>
              <a:rPr sz="1400" b="0">
                <a:solidFill>
                  <a:srgbClr val="404040"/>
                </a:solidFill>
              </a:rPr>
              <a:t>  • 漏印：每机台 ≥ 10 件</a:t>
            </a:r>
          </a:p>
          <a:p>
            <a:r>
              <a:rPr sz="1400" b="0">
                <a:solidFill>
                  <a:srgbClr val="404040"/>
                </a:solidFill>
              </a:rPr>
              <a:t/>
            </a:r>
          </a:p>
          <a:p>
            <a:r>
              <a:rPr sz="1400" b="0">
                <a:solidFill>
                  <a:srgbClr val="404040"/>
                </a:solidFill>
              </a:rPr>
              <a:t>标注规范：</a:t>
            </a:r>
          </a:p>
          <a:p>
            <a:r>
              <a:rPr sz="1400" b="0">
                <a:solidFill>
                  <a:srgbClr val="404040"/>
                </a:solidFill>
              </a:rPr>
              <a:t>  • 双人审核，歧义件第三方仲裁</a:t>
            </a:r>
          </a:p>
          <a:p>
            <a:r>
              <a:rPr sz="1400" b="0">
                <a:solidFill>
                  <a:srgbClr val="404040"/>
                </a:solidFill>
              </a:rPr>
              <a:t>  • 记录机台、批次、相机ID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234440"/>
            <a:ext cx="57607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2618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5B6"/>
                </a:solidFill>
              </a:rPr>
              <a:t>验证执行步骤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719072"/>
            <a:ext cx="12801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1737360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719072"/>
            <a:ext cx="4480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7647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成像标准化检查：光源/相机参数确认，色卡拍摄，ΔE &lt; 2.0 通过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286000"/>
            <a:ext cx="12801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2304288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286000"/>
            <a:ext cx="4480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2331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颜色校准：设备间映射矩阵计算，残差 ΔE &lt; 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52928"/>
            <a:ext cx="12801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53328" y="2871216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852928"/>
            <a:ext cx="4480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28986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阈值重标定：采集样本，ROC曲线分析，确定最优阈值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419856"/>
            <a:ext cx="12801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3438144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419856"/>
            <a:ext cx="4480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346557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A/B 对比测试：建模机 vs 目标机，对比漏检率/误检率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986784"/>
            <a:ext cx="12801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8" y="4005072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986784"/>
            <a:ext cx="4480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403250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连续稳定性测试：连续 3 天 × 3 班，每班 ≥ 100 件，SPC监控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553712"/>
            <a:ext cx="12801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8" y="4572000"/>
            <a:ext cx="1243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4553712"/>
            <a:ext cx="4480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45994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验收评审：KPI 达标→出具报告→正式上线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400800"/>
            <a:ext cx="1143000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1908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验收红线：漏检率 ≤ 0.5 %  且  误检率 ≤ 5 %  且  连续 3 班无系统性漂移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  阶段性结果（样本预览）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Preliminary Results &amp; Sample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10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1430000" cy="502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以下为结果示意区域 — 实际执行验证后，请将真实检测图像、混淆矩阵、ROC曲线替换此占位内容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2743200" cy="3200400"/>
          </a:xfrm>
          <a:prstGeom prst="rect">
            <a:avLst/>
          </a:prstGeom>
          <a:solidFill>
            <a:srgbClr val="D9D9D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合格品示例
（建模机 M-001）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874519"/>
            <a:ext cx="2743200" cy="3200400"/>
          </a:xfrm>
          <a:prstGeom prst="rect">
            <a:avLst/>
          </a:prstGeom>
          <a:solidFill>
            <a:srgbClr val="D9D9D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200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合格品示例
（目标机 M-002）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74519"/>
            <a:ext cx="2743200" cy="3200400"/>
          </a:xfrm>
          <a:prstGeom prst="rect">
            <a:avLst/>
          </a:prstGeom>
          <a:solidFill>
            <a:srgbClr val="D9D9D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缺墨不良示例
（红框标注缺陷区域）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874519"/>
            <a:ext cx="2743200" cy="3200400"/>
          </a:xfrm>
          <a:prstGeom prst="rect">
            <a:avLst/>
          </a:prstGeom>
          <a:solidFill>
            <a:srgbClr val="D9D9D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3200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</a:rPr>
              <a:t>色差不良示例
（ΔE 热力图叠加）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57800"/>
            <a:ext cx="114300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760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检测结果汇总（待填写）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669280"/>
            <a:ext cx="18288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7150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机台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5669280"/>
            <a:ext cx="146304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79" y="5715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样本数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5669280"/>
            <a:ext cx="18288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57150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漏检率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5669280"/>
            <a:ext cx="18288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57150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误检率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5669280"/>
            <a:ext cx="18288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57150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ΔE准确率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5669280"/>
            <a:ext cx="246888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57150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备注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080760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11733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FBF"/>
                </a:solidFill>
              </a:rPr>
              <a:t>（待填写）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94560" y="6080760"/>
            <a:ext cx="1463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79" y="611733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FBF"/>
                </a:solidFill>
              </a:rPr>
              <a:t>（待填写）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6080760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611733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FBF"/>
                </a:solidFill>
              </a:rPr>
              <a:t>（待填写）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6080760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32120" y="611733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FBF"/>
                </a:solidFill>
              </a:rPr>
              <a:t>（待填写）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6080760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611733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FBF"/>
                </a:solidFill>
              </a:rPr>
              <a:t>（待填写）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6080760"/>
            <a:ext cx="24688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611733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FBF"/>
                </a:solidFill>
              </a:rPr>
              <a:t>（待填写）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  落地策略与时间计划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11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" y="1234440"/>
            <a:ext cx="26517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" y="128016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第一阶段
准备期（2周）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" y="192024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" y="2011680"/>
            <a:ext cx="23774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" y="20391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制定成像标准规范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" y="2670048"/>
            <a:ext cx="23774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采购/配置色卡校准工具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" y="3328416"/>
            <a:ext cx="23774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" y="33558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标注规范制定 &amp; 人员培训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" y="3986784"/>
            <a:ext cx="23774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" y="401421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建模机基准数据重新整理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2132" y="1234440"/>
            <a:ext cx="2651760" cy="685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7852" y="128016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第二阶段
试点验证（4周）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42132" y="192024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9292" y="2011680"/>
            <a:ext cx="23774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5012" y="20391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M-002 颜色校准 &amp; 阈值标定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9292" y="2670048"/>
            <a:ext cx="23774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5012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样本采集（合格+不良）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9292" y="3328416"/>
            <a:ext cx="23774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5012" y="33558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A/B 对比测试 &amp; 连续稳定性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9292" y="3986784"/>
            <a:ext cx="23774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5012" y="401421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ROC分析，KPI评审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5060" y="1234440"/>
            <a:ext cx="2651760" cy="685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0780" y="128016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第三阶段
扩线（4周/台）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5060" y="192024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32220" y="2011680"/>
            <a:ext cx="2377440" cy="5303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7940" y="20391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每新增机台重复标定流程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2220" y="2670048"/>
            <a:ext cx="2377440" cy="5303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7940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SPC监控系统接入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32220" y="3328416"/>
            <a:ext cx="2377440" cy="5303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7940" y="33558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灰区复检流程上线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32220" y="3986784"/>
            <a:ext cx="2377440" cy="5303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7940" y="401421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操作员培训 &amp; SOP发布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47988" y="1234440"/>
            <a:ext cx="2651760" cy="685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3708" y="128016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第四阶段
量产运维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47988" y="192024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85148" y="2011680"/>
            <a:ext cx="2377440" cy="53035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0867" y="20391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定期（月度）颜色校准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5148" y="2670048"/>
            <a:ext cx="2377440" cy="53035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0867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异常升级流程演练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5148" y="3328416"/>
            <a:ext cx="2377440" cy="53035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0867" y="33558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持续积累不良样本库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5148" y="3986784"/>
            <a:ext cx="2377440" cy="53035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0867" y="401421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年度模型复评 &amp; 更新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715000"/>
            <a:ext cx="114300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51076" y="5678424"/>
            <a:ext cx="128016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57884" y="58704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W2
规范发布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04004" y="5678424"/>
            <a:ext cx="128016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10812" y="58704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W6
试点验收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56931" y="5678424"/>
            <a:ext cx="128016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63740" y="58704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W10
M-003上线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09859" y="5678424"/>
            <a:ext cx="128016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16667" y="58704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持续
运维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11  资源与投入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Resources &amp; Investment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美瞳铸模移印机印刷质量检测评估报告  |  机密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48640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710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硬件设备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73352"/>
            <a:ext cx="5486400" cy="18928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色卡（X-Rite ColorChecker 24色）× N台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标准光源灯箱（色温对标用）× 1套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相机固定治具（新机台各1套）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（可选）色温计 ×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5486400" cy="43891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2710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软件/算法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73352"/>
            <a:ext cx="5486400" cy="1892807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373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颜色校准模块开发（设备间映射）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945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ROC阈值分析工具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SPC实时监控模块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灰区复检工单系统对接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49039"/>
            <a:ext cx="5486400" cy="43891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85615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人力投入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87952"/>
            <a:ext cx="5486400" cy="1892807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2519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算法工程师：6人周（校准+标定+验证）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091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品质工程师：4人周（样本标注+审核）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663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设备工程师：2人周（治具+光源调试）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6235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产线操作员：培训 0.5天/人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39"/>
            <a:ext cx="5486400" cy="43891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785615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数据资源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187952"/>
            <a:ext cx="5486400" cy="1892807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2519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合格品样本：每台机 ≥ 200 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7091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不良品样本：每类型 ≥ 30 件/机台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1663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标注双人审核，歧义件封存备查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6235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• 数据存档格式：原图+标注JSON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73152" cy="5303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  结论与决策建议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</a:rPr>
              <a:t>Conclusions &amp; Decision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411480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✔ 缺墨/漏印检测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2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可行性高，建议优先上线。相机差异影响有限，配合阈值重标定即可满足KPI。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11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⚠ 色差检测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2608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有条件可行。必须完成颜色校准（残差ΔE &lt; 0.5）和光源锁定，方可启用。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✔ 跨机台复用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77639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方案框架可复用，但每台设备必须独立完成标定，严禁零适配直接上线。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17720"/>
            <a:ext cx="1097280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3600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决策建议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① 立即启动：制定成像规范 + 色卡采购（2周内）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589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② 试点验证：M-002 机台完整走验证流程，达标后扩线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430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③ 上线红线：漏检率 ≤ 0.5 %  且  误检率 ≤ 5 %（必须双达标）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270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④ 持续运维：建立月度颜色校准 + 季度模型复评机制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DD7EE"/>
                </a:solidFill>
              </a:rPr>
              <a:t>请给予立项支持 — 争取 W6 完成试点验收，W10 扩展至第二台机台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